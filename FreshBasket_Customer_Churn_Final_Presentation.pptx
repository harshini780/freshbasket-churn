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FreshBasket 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Customer Churn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From broad retention offers to targeted churn intervention</a:t>
            </a:r>
          </a:p>
          <a:p>
            <a:pPr algn="ctr">
              <a:defRPr sz="1800"/>
            </a:pPr>
            <a:r>
              <a:t>Final assessment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FreshBasket has a loyalty program with Silver, Gold and Platinum members.</a:t>
            </a:r>
          </a:p>
          <a:p>
            <a:pPr>
              <a:spcAft>
                <a:spcPts val="1200"/>
              </a:spcAft>
              <a:defRPr sz="2000"/>
            </a:pPr>
            <a:r>
              <a:t>Management lacks a systematic way to identify members likely to churn.</a:t>
            </a:r>
          </a:p>
          <a:p>
            <a:pPr>
              <a:spcAft>
                <a:spcPts val="1200"/>
              </a:spcAft>
              <a:defRPr sz="2000"/>
            </a:pPr>
            <a:r>
              <a:t>Retention offers are therefore difficult to target efficiently.</a:t>
            </a:r>
          </a:p>
          <a:p>
            <a:pPr>
              <a:spcAft>
                <a:spcPts val="1200"/>
              </a:spcAft>
              <a:defRPr sz="2000"/>
            </a:pPr>
            <a:r>
              <a:t>Goal: predict near-term churn and understand the behavioural signals that precede it.</a:t>
            </a:r>
          </a:p>
          <a:p>
            <a:pPr>
              <a:spcAft>
                <a:spcPts val="1200"/>
              </a:spcAft>
              <a:defRPr sz="2000"/>
            </a:pPr>
            <a:r>
              <a:t>Business outcome: prioritise customers who need retention attention.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 and Churn 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18 months</a:t>
            </a:r>
          </a:p>
          <a:p>
            <a:pPr algn="ctr">
              <a:defRPr sz="1100"/>
            </a:pPr>
            <a:r>
              <a:t>Activity period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7852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≈2,600</a:t>
            </a:r>
          </a:p>
          <a:p>
            <a:pPr algn="ctr">
              <a:defRPr sz="1100"/>
            </a:pPr>
            <a:r>
              <a:t>Initial members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2,225</a:t>
            </a:r>
          </a:p>
          <a:p>
            <a:pPr algn="ctr">
              <a:defRPr sz="1100"/>
            </a:pPr>
            <a:r>
              <a:t>Modelling 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74836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51</a:t>
            </a:r>
          </a:p>
          <a:p>
            <a:pPr algn="ctr">
              <a:defRPr sz="1100"/>
            </a:pPr>
            <a:r>
              <a:t>Final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Three sources: Customer Profile, Monthly Activity and Churn Label.</a:t>
            </a:r>
          </a:p>
          <a:p>
            <a:pPr>
              <a:spcAft>
                <a:spcPts val="1200"/>
              </a:spcAft>
              <a:defRPr sz="1700"/>
            </a:pPr>
            <a:r>
              <a:t>Churn is defined as zero purchase transactions during Apr–Jun 2024 despite earlier purchase history.</a:t>
            </a:r>
          </a:p>
          <a:p>
            <a:pPr>
              <a:spcAft>
                <a:spcPts val="1200"/>
              </a:spcAft>
              <a:defRPr sz="1700"/>
            </a:pPr>
            <a:r>
              <a:t>Predictors are constructed only from information available through Mar 2024.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Data Quality and EDA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0</a:t>
            </a:r>
          </a:p>
          <a:p>
            <a:pPr algn="ctr">
              <a:defRPr sz="1100"/>
            </a:pPr>
            <a:r>
              <a:t>Duplicate profile customers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7852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24</a:t>
            </a:r>
          </a:p>
          <a:p>
            <a:pPr algn="ctr">
              <a:defRPr sz="1100"/>
            </a:pPr>
            <a:r>
              <a:t>Negative spend rows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18/18</a:t>
            </a:r>
          </a:p>
          <a:p>
            <a:pPr algn="ctr">
              <a:defRPr sz="1100"/>
            </a:pPr>
            <a:r>
              <a:t>Activity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74836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769</a:t>
            </a:r>
          </a:p>
          <a:p>
            <a:pPr algn="ctr">
              <a:defRPr sz="1100"/>
            </a:pPr>
            <a:r>
              <a:t>Internal month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2,330 zero-transaction rows were identified; none had non-zero spend.</a:t>
            </a:r>
          </a:p>
          <a:p>
            <a:pPr>
              <a:spcAft>
                <a:spcPts val="1200"/>
              </a:spcAft>
              <a:defRPr sz="1600"/>
            </a:pPr>
            <a:r>
              <a:t>Two duplicate customer-month records were resolved.</a:t>
            </a:r>
          </a:p>
          <a:p>
            <a:pPr>
              <a:spcAft>
                <a:spcPts val="1200"/>
              </a:spcAft>
              <a:defRPr sz="1600"/>
            </a:pPr>
            <a:r>
              <a:t>All-missing HOME_STORE_PRICE_TIER was removed.</a:t>
            </a:r>
          </a:p>
          <a:p>
            <a:pPr>
              <a:spcAft>
                <a:spcPts val="1200"/>
              </a:spcAft>
              <a:defRPr sz="1600"/>
            </a:pPr>
            <a:r>
              <a:t>Missing age was median-imputed; missing gender was set to Unknown.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Feature Engineering and Leakage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Spend and transaction behaviour: totals, averages, variability and recent activity.</a:t>
            </a:r>
          </a:p>
          <a:p>
            <a:pPr>
              <a:spcAft>
                <a:spcPts val="1200"/>
              </a:spcAft>
              <a:defRPr sz="1700"/>
            </a:pPr>
            <a:r>
              <a:t>Engagement: app sessions, emails opened and coupons redeemed.</a:t>
            </a:r>
          </a:p>
          <a:p>
            <a:pPr>
              <a:spcAft>
                <a:spcPts val="1200"/>
              </a:spcAft>
              <a:defRPr sz="1700"/>
            </a:pPr>
            <a:r>
              <a:t>Support: ticket activity, trends and complaint behaviour.</a:t>
            </a:r>
          </a:p>
          <a:p>
            <a:pPr>
              <a:spcAft>
                <a:spcPts val="1200"/>
              </a:spcAft>
              <a:defRPr sz="1700"/>
            </a:pPr>
            <a:r>
              <a:t>Customer attributes: tier, city, demographics, marketing opt-in and preferred category.</a:t>
            </a:r>
          </a:p>
          <a:p>
            <a:pPr>
              <a:spcAft>
                <a:spcPts val="1200"/>
              </a:spcAft>
              <a:defRPr sz="1700"/>
            </a:pPr>
            <a:r>
              <a:t>Tenure and explicit months-since-last-purchase recency.</a:t>
            </a:r>
          </a:p>
          <a:p>
            <a:pPr>
              <a:spcAft>
                <a:spcPts val="1200"/>
              </a:spcAft>
              <a:defRPr sz="1700"/>
            </a:pPr>
            <a:r>
              <a:t>Rolling three-month behavioural and engagement measures.</a:t>
            </a:r>
          </a:p>
          <a:p>
            <a:pPr>
              <a:spcAft>
                <a:spcPts val="1200"/>
              </a:spcAft>
              <a:defRPr sz="1700"/>
            </a:pPr>
            <a:r>
              <a:t>Final modelling dataset: 2,225 customers × 51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Validation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1,780</a:t>
            </a:r>
          </a:p>
          <a:p>
            <a:pPr algn="ctr">
              <a:defRPr sz="1100"/>
            </a:pPr>
            <a:r>
              <a:t>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7852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34.55%</a:t>
            </a:r>
          </a:p>
          <a:p>
            <a:pPr algn="ctr">
              <a:defRPr sz="1100"/>
            </a:pPr>
            <a:r>
              <a:t>Training churn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445</a:t>
            </a:r>
          </a:p>
          <a:p>
            <a:pPr algn="ctr">
              <a:defRPr sz="1100"/>
            </a:pPr>
            <a:r>
              <a:t>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74836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10.56%</a:t>
            </a:r>
          </a:p>
          <a:p>
            <a:pPr algn="ctr">
              <a:defRPr sz="1100"/>
            </a:pPr>
            <a:r>
              <a:t>Validation churn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Primary split uses signup-date cohorts rather than a random train/test split.</a:t>
            </a:r>
          </a:p>
          <a:p>
            <a:pPr>
              <a:spcAft>
                <a:spcPts val="1200"/>
              </a:spcAft>
              <a:defRPr sz="1700"/>
            </a:pPr>
            <a:r>
              <a:t>The validation cohort has a lower churn rate, creating distribution shift.</a:t>
            </a:r>
          </a:p>
          <a:p>
            <a:pPr>
              <a:spcAft>
                <a:spcPts val="1200"/>
              </a:spcAft>
              <a:defRPr sz="1700"/>
            </a:pPr>
            <a:r>
              <a:t>This shift is treated as a limitation and should be monitored on future cohorts.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Logistic Regression: transparent baseline.</a:t>
            </a:r>
          </a:p>
          <a:p>
            <a:pPr>
              <a:spcAft>
                <a:spcPts val="1200"/>
              </a:spcAft>
              <a:defRPr sz="1700"/>
            </a:pPr>
            <a:r>
              <a:t>Random Forest: nonlinear classifier with class balancing.</a:t>
            </a:r>
          </a:p>
          <a:p>
            <a:pPr>
              <a:spcAft>
                <a:spcPts val="1200"/>
              </a:spcAft>
              <a:defRPr sz="1700"/>
            </a:pPr>
            <a:r>
              <a:t>Evaluation: accuracy, precision, recall, F1 and PR-AUC.</a:t>
            </a:r>
          </a:p>
          <a:p>
            <a:pPr>
              <a:spcAft>
                <a:spcPts val="1200"/>
              </a:spcAft>
              <a:defRPr sz="1700"/>
            </a:pPr>
            <a:r>
              <a:t>Earlier cohort-validation comparison: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3657600"/>
          <a:ext cx="10515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5181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PR-AUC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0.8652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0.6204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0.6809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0.6619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What Drives Churn Risk?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1. transaction_change</a:t>
            </a:r>
          </a:p>
          <a:p>
            <a:pPr>
              <a:spcAft>
                <a:spcPts val="1200"/>
              </a:spcAft>
              <a:defRPr sz="1700"/>
            </a:pPr>
            <a:r>
              <a:t>2. spend_change</a:t>
            </a:r>
          </a:p>
          <a:p>
            <a:pPr>
              <a:spcAft>
                <a:spcPts val="1200"/>
              </a:spcAft>
              <a:defRPr sz="1700"/>
            </a:pPr>
            <a:r>
              <a:t>3. recent_transactions</a:t>
            </a:r>
          </a:p>
          <a:p>
            <a:pPr>
              <a:spcAft>
                <a:spcPts val="1200"/>
              </a:spcAft>
              <a:defRPr sz="1700"/>
            </a:pPr>
            <a:r>
              <a:t>4. app_session_change</a:t>
            </a:r>
          </a:p>
          <a:p>
            <a:pPr>
              <a:spcAft>
                <a:spcPts val="1200"/>
              </a:spcAft>
              <a:defRPr sz="1700"/>
            </a:pPr>
            <a:r>
              <a:t>5. recent_spend</a:t>
            </a:r>
          </a:p>
          <a:p>
            <a:pPr>
              <a:spcAft>
                <a:spcPts val="1200"/>
              </a:spcAft>
              <a:defRPr sz="1700"/>
            </a:pPr>
            <a:r>
              <a:t>6. recent_app_sessions</a:t>
            </a:r>
          </a:p>
          <a:p>
            <a:pPr>
              <a:spcAft>
                <a:spcPts val="1200"/>
              </a:spcAft>
              <a:defRPr sz="1700"/>
            </a:pPr>
            <a:r>
              <a:t>7. recent_coupons</a:t>
            </a:r>
          </a:p>
          <a:p>
            <a:pPr>
              <a:spcAft>
                <a:spcPts val="1200"/>
              </a:spcAft>
              <a:defRPr sz="1700"/>
            </a:pPr>
            <a:r>
              <a:t>8. recent_emails_opened</a:t>
            </a:r>
          </a:p>
          <a:p>
            <a:pPr>
              <a:spcAft>
                <a:spcPts val="1200"/>
              </a:spcAft>
              <a:defRPr sz="1700"/>
            </a:pPr>
            <a:r>
              <a:t>Recent behavioural deterioration and engagement are dominant predictive signals.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Ablation: Do Behavioural Features Matter?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0.0965</a:t>
            </a:r>
          </a:p>
          <a:p>
            <a:pPr algn="ctr">
              <a:defRPr sz="1100"/>
            </a:pPr>
            <a:r>
              <a:t>Demographics PR-AUC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7852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0.6619</a:t>
            </a:r>
          </a:p>
          <a:p>
            <a:pPr algn="ctr">
              <a:defRPr sz="1100"/>
            </a:pPr>
            <a:r>
              <a:t>Behavioural PR-AUC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0.6301</a:t>
            </a:r>
          </a:p>
          <a:p>
            <a:pPr algn="ctr">
              <a:defRPr sz="1100"/>
            </a:pPr>
            <a:r>
              <a:t>Behavioural F1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74836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0.8846</a:t>
            </a:r>
          </a:p>
          <a:p>
            <a:pPr algn="ctr">
              <a:defRPr sz="1100"/>
            </a:pPr>
            <a:r>
              <a:t>Precision @ 0.70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Demographics-only model produced no positive predictions at the selected 0.70 threshold.</a:t>
            </a:r>
          </a:p>
          <a:p>
            <a:pPr>
              <a:spcAft>
                <a:spcPts val="1200"/>
              </a:spcAft>
              <a:defRPr sz="1600"/>
            </a:pPr>
            <a:r>
              <a:t>Behavioural + engagement + support features provided substantially more useful predictive information.</a:t>
            </a:r>
          </a:p>
          <a:p>
            <a:pPr>
              <a:spcAft>
                <a:spcPts val="1200"/>
              </a:spcAft>
              <a:defRPr sz="1600"/>
            </a:pPr>
            <a:r>
              <a:t>This supports focusing retention decisions on behaviour and engagement rather than demographics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Retention Scenario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26</a:t>
            </a:r>
          </a:p>
          <a:p>
            <a:pPr algn="ctr">
              <a:defRPr sz="1100"/>
            </a:pPr>
            <a:r>
              <a:t>High-risk customers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7852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88.09%</a:t>
            </a:r>
          </a:p>
          <a:p>
            <a:pPr algn="ctr">
              <a:defRPr sz="1100"/>
            </a:pPr>
            <a:r>
              <a:t>Risk before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70.47%</a:t>
            </a:r>
          </a:p>
          <a:p>
            <a:pPr algn="ctr">
              <a:defRPr sz="1100"/>
            </a:pPr>
            <a:r>
              <a:t>Risk 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74836" y="1554480"/>
            <a:ext cx="2592324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13</a:t>
            </a:r>
          </a:p>
          <a:p>
            <a:pPr algn="ctr">
              <a:defRPr sz="1100"/>
            </a:pPr>
            <a:r>
              <a:t>Moved below 0.70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High-risk = predicted churn probability ≥ 0.70.</a:t>
            </a:r>
          </a:p>
          <a:p>
            <a:pPr>
              <a:spcAft>
                <a:spcPts val="1200"/>
              </a:spcAft>
              <a:defRPr sz="1600"/>
            </a:pPr>
            <a:r>
              <a:t>Scenario assumes a 20% relative reduction in predicted risk after intervention.</a:t>
            </a:r>
          </a:p>
          <a:p>
            <a:pPr>
              <a:spcAft>
                <a:spcPts val="1200"/>
              </a:spcAft>
              <a:defRPr sz="1600"/>
            </a:pPr>
            <a:r>
              <a:t>Average reduction = 17.62 percentage points.</a:t>
            </a:r>
          </a:p>
          <a:p>
            <a:pPr>
              <a:spcAft>
                <a:spcPts val="1200"/>
              </a:spcAft>
              <a:defRPr sz="1600"/>
            </a:pPr>
            <a:r>
              <a:t>This is a simulation, not causal evidence; actual campaign effectiveness must be tested.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Prioritise customers showing recent declines in transactions and spending.</a:t>
            </a:r>
          </a:p>
          <a:p>
            <a:pPr>
              <a:spcAft>
                <a:spcPts val="1200"/>
              </a:spcAft>
              <a:defRPr sz="1700"/>
            </a:pPr>
            <a:r>
              <a:t>Use app, email and coupon engagement as supporting early-warning signals.</a:t>
            </a:r>
          </a:p>
          <a:p>
            <a:pPr>
              <a:spcAft>
                <a:spcPts val="1200"/>
              </a:spcAft>
              <a:defRPr sz="1700"/>
            </a:pPr>
            <a:r>
              <a:t>Monitor elevated or changing support-ticket activity for proactive outreach.</a:t>
            </a:r>
          </a:p>
          <a:p>
            <a:pPr>
              <a:spcAft>
                <a:spcPts val="1200"/>
              </a:spcAft>
              <a:defRPr sz="1700"/>
            </a:pPr>
            <a:r>
              <a:t>Target retention offers instead of contacting the full loyalty population.</a:t>
            </a:r>
          </a:p>
          <a:p>
            <a:pPr>
              <a:spcAft>
                <a:spcPts val="1200"/>
              </a:spcAft>
              <a:defRPr sz="1700"/>
            </a:pPr>
            <a:r>
              <a:t>Set the operating threshold using campaign cost, customer value and false-positive/missed-churn trade-offs.</a:t>
            </a:r>
          </a:p>
          <a:p>
            <a:pPr>
              <a:spcAft>
                <a:spcPts val="1200"/>
              </a:spcAft>
              <a:defRPr sz="1700"/>
            </a:pPr>
            <a:r>
              <a:t>Measure real retention uplift through controlled experiments.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 complete churn prediction workflow was developed from data quality through retention simulation.</a:t>
            </a:r>
          </a:p>
          <a:p>
            <a:pPr>
              <a:spcAft>
                <a:spcPts val="1200"/>
              </a:spcAft>
              <a:defRPr sz="1900"/>
            </a:pPr>
            <a:r>
              <a:t>The modelling dataset uses pre-label customer behaviour and cohort-based validation.</a:t>
            </a:r>
          </a:p>
          <a:p>
            <a:pPr>
              <a:spcAft>
                <a:spcPts val="1200"/>
              </a:spcAft>
              <a:defRPr sz="1900"/>
            </a:pPr>
            <a:r>
              <a:t>Recent behavioural and engagement changes are more useful predictors than demographics alone in this setup.</a:t>
            </a:r>
          </a:p>
          <a:p>
            <a:pPr>
              <a:spcAft>
                <a:spcPts val="1200"/>
              </a:spcAft>
              <a:defRPr sz="1900"/>
            </a:pPr>
            <a:r>
              <a:t>The approach provides a practical basis for targeted retention.</a:t>
            </a:r>
          </a:p>
          <a:p>
            <a:pPr>
              <a:spcAft>
                <a:spcPts val="1200"/>
              </a:spcAft>
              <a:defRPr sz="1900"/>
            </a:pPr>
            <a:r>
              <a:t>Next production step: validate on future cohorts and measure actual intervention ROI.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